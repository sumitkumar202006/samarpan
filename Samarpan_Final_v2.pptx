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46720" y="0"/>
            <a:ext cx="414223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79" y="0"/>
            <a:ext cx="64008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0" b="1" i="0">
                <a:solidFill>
                  <a:srgbClr val="FFFFFF"/>
                </a:solidFill>
              </a:rPr>
              <a:t>SAMARPAN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3317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94A3B8"/>
                </a:solidFill>
              </a:rPr>
              <a:t>Synchronized Multiplayer Learning &amp; Assessment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01752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BBF24"/>
                </a:solidFill>
              </a:rPr>
              <a:t>"Engage. Compete. Learn. — at Scale."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840480"/>
            <a:ext cx="347472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877056"/>
            <a:ext cx="10058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</a:rPr>
              <a:t>$404B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3931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Global EdTech Market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498848"/>
            <a:ext cx="347472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535424"/>
            <a:ext cx="10058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</a:rPr>
              <a:t>60%+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459028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Quiz Drop-off 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157216"/>
            <a:ext cx="347472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193792"/>
            <a:ext cx="10058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</a:rPr>
              <a:t>2.4B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524865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Students Worldwide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815584"/>
            <a:ext cx="347472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852160"/>
            <a:ext cx="10058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</a:rPr>
              <a:t>Zero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590702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True Sync Competitors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91440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Innovation Foundation
Hackathon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011680"/>
            <a:ext cx="3200400" cy="82296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084831"/>
            <a:ext cx="3017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Hackathon Innovation Track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3017520"/>
            <a:ext cx="3200400" cy="82296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090672"/>
            <a:ext cx="3017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Team: Aman · Sumit · Anuneet · Janvi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4023360"/>
            <a:ext cx="3200400" cy="82296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4096512"/>
            <a:ext cx="3017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Stage: Working MVP + Beta Users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5029200"/>
            <a:ext cx="3200400" cy="82296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5102352"/>
            <a:ext cx="3017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Seeking: Seed Funding $50,000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THE PROBLEM: WHAT IS MISSING IN TODAY'S PLATFORMS?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43000"/>
            <a:ext cx="5852160" cy="256032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64008" cy="2560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123444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ISOLATION &amp; BOREDOM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1600200"/>
            <a:ext cx="5669280" cy="202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Static platforms (Google Forms, Typeform) provide zero social engagement.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No real-time competition means users treat quizzes as chores, not experiences.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Studies show 67% of learners abandon digital assessments within the first 3 minutes.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Zero motivational feedback loops — no streaks, leaderboards, or live rivalry.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143000"/>
            <a:ext cx="5852160" cy="2560320"/>
          </a:xfrm>
          <a:prstGeom prst="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143000"/>
            <a:ext cx="64008" cy="25603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23444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580C"/>
                </a:solidFill>
              </a:rPr>
              <a:t>BROKEN SYNCHRONIZATION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600200"/>
            <a:ext cx="5669280" cy="202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Kahoot &amp; Quizizz use client-side timers — easily manipulated and desynced.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Race conditions allow fast-network users to answer before slow-network peers.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No server-enforced state versioning = unfair competitive environments.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Answer reveal during gameplay enables answer-sharing cheating between users.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3840480"/>
            <a:ext cx="5852160" cy="256032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3840480"/>
            <a:ext cx="64008" cy="256032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" y="393192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333EA"/>
                </a:solidFill>
              </a:rPr>
              <a:t>ZERO RETENTION HOOKS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" y="4297680"/>
            <a:ext cx="5669280" cy="202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No shareable result cards, social challenges, or viral invite mechanics.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No streak tracking, XP systems, or progressive difficulty to retain users.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Hosts receive basic % scores — no per-question drop-off or speed analytics.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No community features: no team play, no rival matchmaking, no history.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840480"/>
            <a:ext cx="5852160" cy="256032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840480"/>
            <a:ext cx="64008" cy="25603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393192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4C7"/>
                </a:solidFill>
              </a:rPr>
              <a:t>THE MARKET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4297680"/>
            <a:ext cx="5669280" cy="202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Kahoot: engaging but shallow — no anti-cheat, no deep analytics, no B2B API.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Google Forms: powerful but dead — no real-time, no social, no competition.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Enterprise LMS tools: functional but expensive ($500+/mo) and user-hostile.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NO platform bridges high-engagement multiplayer + serious assessment depth.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291072"/>
            <a:ext cx="12188952" cy="5669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30936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BBF24"/>
                </a:solidFill>
              </a:rPr>
              <a:t>The global EdTech market is $404B and growing at 16% YoY. No platform has solved synchronized, fair, engaging assessment at scale. This is our entry point.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WHO NEEDS SAMARPAN? THE PEOPLE WE ARE BUILT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115568"/>
            <a:ext cx="2267712" cy="233172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115568"/>
            <a:ext cx="2267712" cy="640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61288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4C7"/>
                </a:solidFill>
              </a:rPr>
              <a:t>Students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1536192"/>
            <a:ext cx="2084831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Want learning that feels like a game, not a punishment. Need live rivalry, streaks &amp; instant feedback — not a boring form link.</a:t>
            </a:r>
          </a:p>
        </p:txBody>
      </p:sp>
      <p:sp>
        <p:nvSpPr>
          <p:cNvPr id="9" name="Rectangle 8"/>
          <p:cNvSpPr/>
          <p:nvPr/>
        </p:nvSpPr>
        <p:spPr>
          <a:xfrm>
            <a:off x="2578608" y="1115568"/>
            <a:ext cx="2267712" cy="23317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78608" y="1115568"/>
            <a:ext cx="2267712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88336" y="1161288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Teachers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8336" y="1536192"/>
            <a:ext cx="2084831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Need per-question analytics, not just pass/fail. Want revision sessions that students actually engage with — no app install required.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1115568"/>
            <a:ext cx="2267712" cy="233172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56048" y="1115568"/>
            <a:ext cx="2267712" cy="64008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65776" y="1161288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333EA"/>
                </a:solidFill>
              </a:rPr>
              <a:t>Corporate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5776" y="1536192"/>
            <a:ext cx="2084831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Need training completion + compliance tracking without a $500/mo LMS. Want engaging onboarding quizzes employees actually finish.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33488" y="1115568"/>
            <a:ext cx="2267712" cy="2331720"/>
          </a:xfrm>
          <a:prstGeom prst="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33488" y="1115568"/>
            <a:ext cx="2267712" cy="640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43216" y="1161288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580C"/>
                </a:solidFill>
              </a:rPr>
              <a:t>Content Creators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43216" y="1536192"/>
            <a:ext cx="2084831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Run live quiz shows on YouTube/Instagram. Need 200+ players synced in real-time with branded shareable result cards post-session.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10928" y="1115568"/>
            <a:ext cx="2267712" cy="233172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710928" y="1115568"/>
            <a:ext cx="2267712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20656" y="1161288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Institutions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0656" y="1536192"/>
            <a:ext cx="2084831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Schools &amp; colleges need bulk quiz mgmt + portal integration at &lt; Rs 0.50/student/month — not Kahoot's $8/student/year pricing.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566160"/>
            <a:ext cx="11777472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3593592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BBF24"/>
                </a:solidFill>
              </a:rPr>
              <a:t>"Every student wants engagement. Every teacher wants insight. Every company wants compliance. No single affordable platform delivers all three — until Samarpan."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" y="416052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MARKET DEMAND PROOF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" y="4526280"/>
            <a:ext cx="2267712" cy="21031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1168" y="4617720"/>
            <a:ext cx="22677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$7.5B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" y="5440680"/>
            <a:ext cx="22677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India EdTech Market
(20% YoY Growth)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96896" y="4526280"/>
            <a:ext cx="2267712" cy="2103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96896" y="4617720"/>
            <a:ext cx="22677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250M+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96896" y="5440680"/>
            <a:ext cx="22677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Students in India
Learning Online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92624" y="4526280"/>
            <a:ext cx="2267712" cy="2103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92624" y="4617720"/>
            <a:ext cx="22677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67%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92624" y="5440680"/>
            <a:ext cx="22677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Drop-off Rate on
Digital Assessments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88352" y="4526280"/>
            <a:ext cx="2267712" cy="210312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88352" y="4617720"/>
            <a:ext cx="22677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40%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88352" y="5440680"/>
            <a:ext cx="22677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Corporate Training
Never Completed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84080" y="4526280"/>
            <a:ext cx="2267712" cy="21031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84080" y="4617720"/>
            <a:ext cx="22677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Rs 150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5440680"/>
            <a:ext cx="22677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Our Target CAC vs
Rs 800+ Industry Avg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THE SOLUTION: PROJECT SAMARPAN — TECHNICAL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115568"/>
            <a:ext cx="11795760" cy="5074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SYSTEM ARCHITECTURE &amp; CORE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3611880" cy="256032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73152" cy="25603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4C7"/>
                </a:solidFill>
              </a:rPr>
              <a:t>FRONTEND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Next.js 14 (App Router)
React real-time state mgmt
Tailwind CSS + Framer Motion
Socket.io Client
Responsive across all devices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514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4A3B8"/>
                </a:solidFill>
              </a:rPr>
              <a:t>==&gt;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600200"/>
            <a:ext cx="3611880" cy="256032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600200"/>
            <a:ext cx="73152" cy="256032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6459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333EA"/>
                </a:solidFill>
              </a:rPr>
              <a:t>BACKEND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10312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Node.js + Express.js
Socket.io WebSocket Server
Server-controlled timer engine
Strict state versioning (v1,v2...)
Razorpay Payment Gateway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514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4A3B8"/>
                </a:solidFill>
              </a:rPr>
              <a:t>==&gt;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600200"/>
            <a:ext cx="3611880" cy="25603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600200"/>
            <a:ext cx="73152" cy="2560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6459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DATA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10312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MongoDB Atlas (NoSQL)
Prisma ORM (type-safe)
Redis (session &amp; queue cache)
JWT Auth + bcrypt encryption
OpenAI API (AI quiz gen)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2519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KEY TECHNICAL INNOVATIONS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645152"/>
            <a:ext cx="2743200" cy="141732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645152"/>
            <a:ext cx="64008" cy="1417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" y="466344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Server-Side Timer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" y="5029200"/>
            <a:ext cx="2514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All quiz timers run on Node.js server. Clients are pure renderers. Eliminates every form of client-side manipulation.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4645152"/>
            <a:ext cx="2743200" cy="1417320"/>
          </a:xfrm>
          <a:prstGeom prst="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91840" y="4645152"/>
            <a:ext cx="64008" cy="14173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19856" y="466344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</a:rPr>
              <a:t>State Versioning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19856" y="5029200"/>
            <a:ext cx="2514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Every game state carries an incremental version number. Stale updates from lagging clients are auto-rejected.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4645152"/>
            <a:ext cx="2743200" cy="141732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4645152"/>
            <a:ext cx="64008" cy="141732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45936" y="466344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333EA"/>
                </a:solidFill>
              </a:rPr>
              <a:t>Focus Mode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5936" y="5029200"/>
            <a:ext cx="2514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Browser tab-switch detection locks user out of quiz. Prevents answer-searching and screen-sharing cheats.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4645152"/>
            <a:ext cx="2743200" cy="14173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0" y="4645152"/>
            <a:ext cx="64008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72016" y="466344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No-Answer-Reveal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72016" y="5029200"/>
            <a:ext cx="2514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Correct answers are never sent to clients during gameplay. Only aggregate stats are pushed post-round only.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WHY SAMARPAN WILL WIN: COMPETITIVE ADVANTAGE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115568"/>
            <a:ext cx="5943600" cy="173736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115568"/>
            <a:ext cx="64008" cy="1737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207008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Product-Led Viral Growth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572768"/>
            <a:ext cx="576072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</a:rPr>
              <a:t>Every quiz result generates a branded shareable card (LinkedIn, WhatsApp, Instagram).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</a:rPr>
              <a:t>Each card has a 'Challenge Me' CTA — converting viewers to new users organically.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</a:rPr>
              <a:t>Referral loop: 1 host quiz -&gt; avg 25 players -&gt; 5 new signups (estimated K-factor: 1.3).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</a:rPr>
              <a:t>Zero paid acquisition needed in early growth phase — fully organic virality.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0087"/>
            <a:ext cx="5943600" cy="173736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" y="2990087"/>
            <a:ext cx="64008" cy="17373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3081527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4C7"/>
                </a:solidFill>
              </a:rPr>
              <a:t>Enterprise-Grade Technical Moat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3447287"/>
            <a:ext cx="576072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</a:rPr>
              <a:t>WebSocket architecture with horizontal scaling via PM2 cluster mode.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</a:rPr>
              <a:t>MongoDB handles 50,000+ concurrent document reads/writes during live quizzes.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</a:rPr>
              <a:t>Graceful reconnection logic: players rejoin mid-quiz without losing state.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</a:rPr>
              <a:t>99.9% uptime target with Vercel edge + Railway backend infrastructure.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4864607"/>
            <a:ext cx="5943600" cy="173736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" y="4864607"/>
            <a:ext cx="64008" cy="173736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" y="4956047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333EA"/>
                </a:solidFill>
              </a:rPr>
              <a:t>Broad &amp; Defensible Market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5321807"/>
            <a:ext cx="576072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</a:rPr>
              <a:t>B2C: Students, teachers, content creators, trivia hosts worldwide.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</a:rPr>
              <a:t>B2B: Schools (50M+ students in India alone), corporate HR, ed-agencies.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</a:rPr>
              <a:t>Platform-agnostic API in Phase 3 locks in enterprise clients with switching cost.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</a:rPr>
              <a:t>First-mover advantage in India's synchronized multiplayer EdTech segment.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115568"/>
            <a:ext cx="557784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1115568"/>
            <a:ext cx="557784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115568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COMPETITIVE COMPARISON MATRIX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554480"/>
            <a:ext cx="1883664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572768"/>
            <a:ext cx="19202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Capability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1554480"/>
            <a:ext cx="740664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572768"/>
            <a:ext cx="7772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Forms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1554480"/>
            <a:ext cx="786384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1572768"/>
            <a:ext cx="8229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Kahoot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21240" y="1554480"/>
            <a:ext cx="786384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21240" y="1572768"/>
            <a:ext cx="8229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Quizizz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44200" y="1554480"/>
            <a:ext cx="969264" cy="4114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44200" y="1572768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SAMARPAN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965960"/>
            <a:ext cx="188366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1993392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</a:rPr>
              <a:t>Server-side Sync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21040" y="1965960"/>
            <a:ext cx="74066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1993392"/>
            <a:ext cx="777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C2626"/>
                </a:solidFill>
              </a:rPr>
              <a:t>No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98280" y="1965960"/>
            <a:ext cx="78638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98280" y="1993392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C2626"/>
                </a:solidFill>
              </a:rPr>
              <a:t>No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21240" y="1965960"/>
            <a:ext cx="78638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21240" y="1993392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C2626"/>
                </a:solidFill>
              </a:rPr>
              <a:t>No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744200" y="1965960"/>
            <a:ext cx="96926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44200" y="1993392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6A34A"/>
                </a:solidFill>
              </a:rPr>
              <a:t>YES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2423160"/>
            <a:ext cx="188366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2450592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</a:rPr>
              <a:t>Anti-Cheat Engine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21040" y="2423160"/>
            <a:ext cx="74066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40" y="2450592"/>
            <a:ext cx="777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C2626"/>
                </a:solidFill>
              </a:rPr>
              <a:t>No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98280" y="2423160"/>
            <a:ext cx="78638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98280" y="2450592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C2626"/>
                </a:solidFill>
              </a:rPr>
              <a:t>No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921240" y="2423160"/>
            <a:ext cx="78638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21240" y="2450592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BBF24"/>
                </a:solidFill>
              </a:rPr>
              <a:t>Basic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744200" y="2423160"/>
            <a:ext cx="96926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44200" y="2450592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6A34A"/>
                </a:solidFill>
              </a:rPr>
              <a:t>YES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2880360"/>
            <a:ext cx="188366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2907792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</a:rPr>
              <a:t>Real-time Teams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21040" y="2880360"/>
            <a:ext cx="74066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21040" y="2907792"/>
            <a:ext cx="777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C2626"/>
                </a:solidFill>
              </a:rPr>
              <a:t>No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98280" y="2880360"/>
            <a:ext cx="78638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98280" y="2907792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BBF24"/>
                </a:solidFill>
              </a:rPr>
              <a:t>Yes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921240" y="2880360"/>
            <a:ext cx="78638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921240" y="2907792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BBF24"/>
                </a:solidFill>
              </a:rPr>
              <a:t>Yes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744200" y="2880360"/>
            <a:ext cx="96926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744200" y="2907792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6A34A"/>
                </a:solidFill>
              </a:rPr>
              <a:t>YES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3337560"/>
            <a:ext cx="188366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0" y="3364992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</a:rPr>
              <a:t>Deep Host Analytics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21040" y="3337560"/>
            <a:ext cx="74066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21040" y="3364992"/>
            <a:ext cx="777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BBF24"/>
                </a:solidFill>
              </a:rPr>
              <a:t>Basic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098280" y="3337560"/>
            <a:ext cx="78638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98280" y="3364992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C2626"/>
                </a:solidFill>
              </a:rPr>
              <a:t>No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921240" y="3337560"/>
            <a:ext cx="78638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921240" y="3364992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BBF24"/>
                </a:solidFill>
              </a:rPr>
              <a:t>Basic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744200" y="3337560"/>
            <a:ext cx="96926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744200" y="3364992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6A34A"/>
                </a:solidFill>
              </a:rPr>
              <a:t>YES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3794760"/>
            <a:ext cx="188366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0800" y="3822191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</a:rPr>
              <a:t>Viral Share Cards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321040" y="3794760"/>
            <a:ext cx="74066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21040" y="3822191"/>
            <a:ext cx="777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C2626"/>
                </a:solidFill>
              </a:rPr>
              <a:t>No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98280" y="3794760"/>
            <a:ext cx="78638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98280" y="3822191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C2626"/>
                </a:solidFill>
              </a:rPr>
              <a:t>No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921240" y="3794760"/>
            <a:ext cx="78638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921240" y="3822191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C2626"/>
                </a:solidFill>
              </a:rPr>
              <a:t>No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744200" y="3794760"/>
            <a:ext cx="96926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744200" y="3822191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6A34A"/>
                </a:solidFill>
              </a:rPr>
              <a:t>YES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400800" y="4251960"/>
            <a:ext cx="188366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00800" y="4279392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</a:rPr>
              <a:t>SaaS Tier Gating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321040" y="4251960"/>
            <a:ext cx="74066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321040" y="4279392"/>
            <a:ext cx="777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C2626"/>
                </a:solidFill>
              </a:rPr>
              <a:t>No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098280" y="4251960"/>
            <a:ext cx="78638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098280" y="4279392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BBF24"/>
                </a:solidFill>
              </a:rPr>
              <a:t>Yes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921240" y="4251960"/>
            <a:ext cx="78638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921240" y="4279392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BBF24"/>
                </a:solidFill>
              </a:rPr>
              <a:t>Yes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744200" y="4251960"/>
            <a:ext cx="96926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744200" y="4279392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6A34A"/>
                </a:solidFill>
              </a:rPr>
              <a:t>YES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400800" y="4709160"/>
            <a:ext cx="188366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400800" y="4736592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</a:rPr>
              <a:t>AI Quiz Generation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321040" y="4709160"/>
            <a:ext cx="74066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321040" y="4736592"/>
            <a:ext cx="777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C2626"/>
                </a:solidFill>
              </a:rPr>
              <a:t>No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098280" y="4709160"/>
            <a:ext cx="78638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098280" y="4736592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C2626"/>
                </a:solidFill>
              </a:rPr>
              <a:t>No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921240" y="4709160"/>
            <a:ext cx="78638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921240" y="4736592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C2626"/>
                </a:solidFill>
              </a:rPr>
              <a:t>No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744200" y="4709160"/>
            <a:ext cx="969264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744200" y="4736592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6A34A"/>
                </a:solidFill>
              </a:rPr>
              <a:t>YES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400800" y="5166360"/>
            <a:ext cx="188366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400800" y="5193792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</a:rPr>
              <a:t>LMS/API Integration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321040" y="5166360"/>
            <a:ext cx="74066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321040" y="5193792"/>
            <a:ext cx="777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C2626"/>
                </a:solidFill>
              </a:rPr>
              <a:t>No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098280" y="5166360"/>
            <a:ext cx="78638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098280" y="5193792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C2626"/>
                </a:solidFill>
              </a:rPr>
              <a:t>No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921240" y="5166360"/>
            <a:ext cx="78638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921240" y="5193792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BBF24"/>
                </a:solidFill>
              </a:rPr>
              <a:t>Paid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744200" y="5166360"/>
            <a:ext cx="96926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744200" y="5193792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6A34A"/>
                </a:solidFill>
              </a:rPr>
              <a:t>YES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BUSINESS MODEL, MONETIZATION &amp; FINANCIAL PROJECTIONS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115568"/>
            <a:ext cx="3749039" cy="36576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115568"/>
            <a:ext cx="3749039" cy="640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143000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84C7"/>
                </a:solidFill>
              </a:rPr>
              <a:t>FREE TIER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81912"/>
            <a:ext cx="3291840" cy="65836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618488"/>
            <a:ext cx="3291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Rs 0 / 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304288"/>
            <a:ext cx="34747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  Up to 20 concurrent players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  5 quizzes per month limit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  Basic accuracy analytics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  Standard share cards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  Community support only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  Purpose: Drive viral acquisition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115568"/>
            <a:ext cx="3749039" cy="365760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1115568"/>
            <a:ext cx="3749039" cy="64008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1143000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333EA"/>
                </a:solidFill>
              </a:rPr>
              <a:t>PRO TIER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581912"/>
            <a:ext cx="3291840" cy="658368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618488"/>
            <a:ext cx="3291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Rs 299 / 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304288"/>
            <a:ext cx="34747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  Up to 200 concurrent players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  Unlimited quiz creation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  Advanced per-question analytics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  AI quiz generation (10/mo)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  Priority email support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  Custom branding on share cards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1115568"/>
            <a:ext cx="3749039" cy="3657600"/>
          </a:xfrm>
          <a:prstGeom prst="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59" y="1115568"/>
            <a:ext cx="3749039" cy="640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59" y="1143000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A580C"/>
                </a:solidFill>
              </a:rPr>
              <a:t>ENTERPRISE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66759" y="1581912"/>
            <a:ext cx="3291840" cy="6583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1618488"/>
            <a:ext cx="3291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Rs 2,499 / month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2304288"/>
            <a:ext cx="34747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  Unlimited players &amp; quizzes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  Full white-label branding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  REST API for LMS integration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  Unlimited AI quiz generation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  SLA-backed 99.9% uptime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  Dedicated account manager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4892040"/>
            <a:ext cx="11795760" cy="1719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9194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MONTHLY RECURRING REVENUE GROWTH PROJECTION (YEAR 1)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236207"/>
            <a:ext cx="128016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96188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4A3B8"/>
                </a:solidFill>
              </a:rPr>
              <a:t>$0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3550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</a:rPr>
              <a:t>Mo 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21408" y="6236207"/>
            <a:ext cx="128016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21408" y="596188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84C7"/>
                </a:solidFill>
              </a:rPr>
              <a:t>$500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21408" y="63550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</a:rPr>
              <a:t>Mo 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85616" y="6201460"/>
            <a:ext cx="1280160" cy="80467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85616" y="59271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84C7"/>
                </a:solidFill>
              </a:rPr>
              <a:t>$1.2K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85616" y="63550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</a:rPr>
              <a:t>Mo 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49824" y="6148151"/>
            <a:ext cx="1280160" cy="133776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49824" y="587383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333EA"/>
                </a:solidFill>
              </a:rPr>
              <a:t>$2K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9824" y="63550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</a:rPr>
              <a:t>Mo 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14032" y="6067684"/>
            <a:ext cx="1280160" cy="214243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14032" y="579336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333EA"/>
                </a:solidFill>
              </a:rPr>
              <a:t>$3.2K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14032" y="63550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</a:rPr>
              <a:t>Mo 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78240" y="6013368"/>
            <a:ext cx="1280160" cy="268559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78240" y="5739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A34A"/>
                </a:solidFill>
              </a:rPr>
              <a:t>$4K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0" y="63550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</a:rPr>
              <a:t>Mo 11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442448" y="5946983"/>
            <a:ext cx="1280160" cy="33494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42448" y="5672663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A34A"/>
                </a:solidFill>
              </a:rPr>
              <a:t>$5K+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42448" y="63550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</a:rPr>
              <a:t>Mo 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4A3B8"/>
                </a:solidFill>
              </a:rPr>
              <a:t>Target: Break-even at 200 Pro users | CAC &lt; Rs 150 | LTV:CAC ratio &gt; 10x | Gross Margin ~82%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STRATEGIC ROADMAP: FROM MVP TO MARKET LEADER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115568"/>
            <a:ext cx="2834640" cy="685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115568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 1
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18013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284C7"/>
                </a:solidFill>
              </a:rPr>
              <a:t>Q1-Q2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2075688"/>
            <a:ext cx="2834640" cy="3246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2075688"/>
            <a:ext cx="64008" cy="32461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2121408"/>
            <a:ext cx="265176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  - Core WebSocket sync engine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  - Dynamic lobbies &amp; slot system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  - Anti-cheat (focus mode + no-reveal)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  - Host analytics dashboard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  - Razorpay payment integration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  - Freemium tier launch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320040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84C7"/>
                </a:solidFill>
              </a:rPr>
              <a:t>&gt;&gt;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115568"/>
            <a:ext cx="2834640" cy="685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82112" y="1115568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 2
IN PROGRESS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18013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6A34A"/>
                </a:solidFill>
              </a:rPr>
              <a:t>Q3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82112" y="2075688"/>
            <a:ext cx="2834640" cy="3246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82112" y="2075688"/>
            <a:ext cx="64008" cy="3246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2121408"/>
            <a:ext cx="265176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  - Subscription quota enforcement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  - Pro &amp; Enterprise tier rollout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  - Beta onboarding: 10 schools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  - AI quiz gen from PDF upload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  - Mobile-responsive PWA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  - 100 paying users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2472" y="320040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</a:rPr>
              <a:t>&gt;&gt;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1115568"/>
            <a:ext cx="2834640" cy="6858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81344" y="1115568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 3
NEXT 6 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18013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333EA"/>
                </a:solidFill>
              </a:rPr>
              <a:t>Q4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1344" y="2075688"/>
            <a:ext cx="2834640" cy="3246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2075688"/>
            <a:ext cx="64008" cy="324612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2121408"/>
            <a:ext cx="265176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  - OpenAI adaptive difficulty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  - Streak &amp; XP gamification system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  - Challenge invite &amp; referral loop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  - Corporate HR pilot (5 companies)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  - 1,000 MAU milestone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  - Rs 1L MRR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1704" y="320040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333EA"/>
                </a:solidFill>
              </a:rPr>
              <a:t>&gt;&gt;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80576" y="1115568"/>
            <a:ext cx="2834640" cy="685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0576" y="1115568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 4
12 MONTHS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18013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A580C"/>
                </a:solidFill>
              </a:rPr>
              <a:t>Q1 2027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80576" y="2075688"/>
            <a:ext cx="2834640" cy="3246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80576" y="2075688"/>
            <a:ext cx="64008" cy="32461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90303" y="2121408"/>
            <a:ext cx="265176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  - Public REST API for LMS vendors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  - React Native iOS &amp; Android app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  - Multi-language quiz support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  - 50+ school partnerships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  - 10,000+ MAU milestone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</a:rPr>
              <a:t>  - Series A fundraise preparation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5513832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BBF24"/>
                </a:solidFill>
              </a:rPr>
              <a:t>TARGET MILESTONES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5897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10,000+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35508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MAU by Year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0" y="5897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50+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51760" y="635508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Schools in Beta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5897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Rs 4L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635508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MRR by Mo 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5897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82%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635508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Gross Margin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5897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&lt; Rs 150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0" y="635508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Customer CAC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THE TEAM, TRACTION &amp; FUNDRAISING 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115568"/>
            <a:ext cx="749808" cy="7498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115568"/>
            <a:ext cx="7498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AM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115568"/>
            <a:ext cx="5074920" cy="12618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1115568"/>
            <a:ext cx="64008" cy="126187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1612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Aman Maurya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50876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284C7"/>
                </a:solidFill>
              </a:rPr>
              <a:t>Team Lead &amp; Full Stack Engineer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801368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Architected the entire WebSocket sync engine, Prisma schema design, REST APIs, and server-side timer logic. Led all technical decisions.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2468880"/>
            <a:ext cx="749808" cy="749808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2468880"/>
            <a:ext cx="7498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2468880"/>
            <a:ext cx="5074920" cy="12618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5840" y="2468880"/>
            <a:ext cx="64008" cy="1261872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25146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Sumit Kumar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286207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9333EA"/>
                </a:solidFill>
              </a:rPr>
              <a:t>Frontend &amp; UI/UX 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154680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Built the Next.js 14 frontend, real-time lobby UI, Tailwind design system, Framer Motion animations, and responsive mobile layout.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3822191"/>
            <a:ext cx="749808" cy="7498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" y="3822191"/>
            <a:ext cx="7498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3822191"/>
            <a:ext cx="5074920" cy="12618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5840" y="3822191"/>
            <a:ext cx="64008" cy="12618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3867911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Anuneet Gupta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4215383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6A34A"/>
                </a:solidFill>
              </a:rPr>
              <a:t>Backend &amp; Payments Engineer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4507992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Implemented Razorpay subscription integration, API quota enforcement, JWT auth flows, and billing webhook handlers.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5175503"/>
            <a:ext cx="749808" cy="7498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" y="5175503"/>
            <a:ext cx="7498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JS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5175503"/>
            <a:ext cx="5074920" cy="12618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05840" y="5175503"/>
            <a:ext cx="64008" cy="126187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5568" y="5221223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Janvi Sahu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5568695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A580C"/>
                </a:solidFill>
              </a:rPr>
              <a:t>AI &amp; ML Integration Engineer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5861303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Integrated OpenAI API for quiz generation from PDFs, built adaptive difficulty scoring logic, and designed the AI prompt pipeline.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1115568"/>
            <a:ext cx="5623560" cy="5303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1207008"/>
            <a:ext cx="544068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1216152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BBF24"/>
                </a:solidFill>
              </a:rPr>
              <a:t>TRACTION &amp; VALIDATION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1627632"/>
            <a:ext cx="5349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</a:rPr>
              <a:t>  + Working MVP deployed and live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</a:rPr>
              <a:t>  + Beta tested with 3 educational institutions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</a:rPr>
              <a:t>  + Core multiplayer engine handles 50+ simultaneous users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</a:rPr>
              <a:t>  + Razorpay payment pipeline fully integrated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</a:rPr>
              <a:t>  + AI quiz generation (PDF -&gt; quiz) prototype complete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</a:rPr>
              <a:t>  + Admin dashboard + analytics portal built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3474720"/>
            <a:ext cx="5440680" cy="38404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493008"/>
            <a:ext cx="5440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FUNDRAISING ASK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960" y="3904487"/>
            <a:ext cx="516636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3931920"/>
            <a:ext cx="51663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BBF24"/>
                </a:solidFill>
              </a:rPr>
              <a:t>$50,000  /  Rs 40 Lakhs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466344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SEED ROUND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46520" y="5010912"/>
            <a:ext cx="5349240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5029200"/>
            <a:ext cx="777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50%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96912" y="5047488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Engineering &amp; Server Scale — WebSocket infra, Redis, CDN, DevOps pipeline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46520" y="5486400"/>
            <a:ext cx="5349240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5504688"/>
            <a:ext cx="777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30%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96912" y="5522975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B2B Sales &amp; Marketing — School outreach, content, growth hacking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46520" y="5961888"/>
            <a:ext cx="5349240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5980176"/>
            <a:ext cx="777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20%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96912" y="5998464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Operational Runway — Team sustenance for 12-18 month runway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80" y="6144768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BBF24"/>
                </a:solidFill>
              </a:rPr>
              <a:t>"Let's make learning something people actually look forward to."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